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 i="0">
                <a:solidFill>
                  <a:srgbClr val="003366"/>
                </a:solidFill>
                <a:latin typeface="Times New Roman"/>
              </a:rPr>
              <a:t>1С:ITILIUM — Изменения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0000" y="1152000"/>
            <a:ext cx="90000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0">
                <a:solidFill>
                  <a:srgbClr val="666666"/>
                </a:solidFill>
                <a:latin typeface="Times New Roman"/>
              </a:rPr>
              <a:t>Короткое руководство для сотрудников (без согласования)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6228000"/>
            <a:ext cx="108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666666"/>
                </a:solidFill>
                <a:latin typeface="Times New Roman"/>
              </a:rPr>
              <a:t>Версия: для Итилиум Проф 1.0 • 02.07.2026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003366"/>
                </a:solidFill>
                <a:latin typeface="Times New Roman"/>
              </a:rPr>
              <a:t>Что такое «Изменение»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0000" y="1188000"/>
            <a:ext cx="918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Документ для фиксации и выполнения работ по изменению ИТ‑сервиса/системы.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Хранит описание, тип/категорию/приоритет, ответственное лицо, состояние, историю и файлы.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Позволяет вести переписку по изменению в одном месте (внутреннее общение).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003366"/>
                </a:solidFill>
                <a:latin typeface="Times New Roman"/>
              </a:rPr>
              <a:t>Где найти в системе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0000" y="1188000"/>
            <a:ext cx="918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Раздел: «Управление изменениями».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Список изменений: ссылка «Все».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Состояния и переходы: «Состояния изменений» → вкладка «Правила перехода».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Переписка: кнопка/блок «Общение по изменению» в документе «Изменение».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003366"/>
                </a:solidFill>
                <a:latin typeface="Times New Roman"/>
              </a:rPr>
              <a:t>Как создать «Изменение» на основании обращения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0000" y="1188000"/>
            <a:ext cx="918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Открой обращение, по которому нужно выполнить работы.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Нажми «Ввести на основании» → выбери «Изменение».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Проверь, что перенеслись клиент/инициатор и описание; дополни цель и план работ.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Заполни: Тип, Категория, Приоритет, Ответственный/рабочая группа.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Сохрани документ и переведи в нужное состояние (например, «В работе»).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5760000"/>
            <a:ext cx="91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Times New Roman"/>
              </a:rPr>
              <a:t>Если пункта «Ввести на основании» нет — это права или настройка интерфейса.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003366"/>
                </a:solidFill>
                <a:latin typeface="Times New Roman"/>
              </a:rPr>
              <a:t>Что обязательно заполнить в «Изменении»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0000" y="1188000"/>
            <a:ext cx="918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Описание изменения (что делаем и зачем).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Тип / Категория / Приоритет — чтобы корректно классифицировать работу.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Ответственный (или рабочая группа).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Оповещаемые лица (кому приходят уведомления при смене состояния — если используется).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Файлы: ТЗ, план внедрения, чек‑лист, план отката (если нужно).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003366"/>
                </a:solidFill>
                <a:latin typeface="Times New Roman"/>
              </a:rPr>
              <a:t>Состояния изменения (как обычно устроено)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0000" y="1188000"/>
            <a:ext cx="918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Новое — изменение создано/зарегистрировано.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В работе — изменение выполняется.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Закрыто — работы завершены (часто требуется указать «Код закрытия»).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Дополнительно могут быть: На доработке, Отменено, Отклонено, Запланировано (если заведены в вашей базе).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5760000"/>
            <a:ext cx="91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Times New Roman"/>
              </a:rPr>
              <a:t>Набор состояний зависит от настройки справочника «Состояния изменений».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003366"/>
                </a:solidFill>
                <a:latin typeface="Times New Roman"/>
              </a:rPr>
              <a:t>Как менять состояние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0000" y="1188000"/>
            <a:ext cx="918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Открой документ «Изменение».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В поле «Состояние» выбери доступное следующее состояние.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Если нужного состояния нет в списке — переход запрещён в матрице («Правила перехода»).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При закрытии: заполни «Код закрытия» (если в состоянии он обязателен).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003366"/>
                </a:solidFill>
                <a:latin typeface="Times New Roman"/>
              </a:rPr>
              <a:t>Внутреннее общение по изменению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0000" y="1188000"/>
            <a:ext cx="45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2E86C1"/>
                </a:solidFill>
                <a:latin typeface="Times New Roman"/>
              </a:rPr>
              <a:t>Зачем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620000"/>
            <a:ext cx="45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111111"/>
                </a:solidFill>
                <a:latin typeface="Times New Roman"/>
              </a:rPr>
              <a:t>Фиксировать договорённости и статус работ.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111111"/>
                </a:solidFill>
                <a:latin typeface="Times New Roman"/>
              </a:rPr>
              <a:t>Собирать всю переписку по изменению в одном месте.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111111"/>
                </a:solidFill>
                <a:latin typeface="Times New Roman"/>
              </a:rPr>
              <a:t>Передавать контекст между сменами/исполнителями.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28000" y="1188000"/>
            <a:ext cx="4392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2E86C1"/>
                </a:solidFill>
                <a:latin typeface="Times New Roman"/>
              </a:rPr>
              <a:t>Как пользоваться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28000" y="1620000"/>
            <a:ext cx="4392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111111"/>
                </a:solidFill>
                <a:latin typeface="Times New Roman"/>
              </a:rPr>
              <a:t>Открой «Общение по изменению».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111111"/>
                </a:solidFill>
                <a:latin typeface="Times New Roman"/>
              </a:rPr>
              <a:t>Пиши сообщения во «Внутреннем общении».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111111"/>
                </a:solidFill>
                <a:latin typeface="Times New Roman"/>
              </a:rPr>
              <a:t>Добавляй подписчиков (кому нужны уведомления).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111111"/>
                </a:solidFill>
                <a:latin typeface="Times New Roman"/>
              </a:rPr>
              <a:t>Прикладывай файлы и ссылки на связанные документы.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003366"/>
                </a:solidFill>
                <a:latin typeface="Times New Roman"/>
              </a:rPr>
              <a:t>Связи и вложения: чтобы ничего не потерять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0000" y="1188000"/>
            <a:ext cx="918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Вкладка «Связи»: связывай изменение с обращением/проблемой/релизом (если используется).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Вкладка «Файлы»: прикладывай ТЗ, план внедрения, результаты проверок, скриншоты.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Вкладка «История»: используйте для контроля — кто и когда менял состояние/ответственного.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003366"/>
                </a:solidFill>
                <a:latin typeface="Times New Roman"/>
              </a:rPr>
              <a:t>Типичные ошибки и как их избежать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0000" y="1188000"/>
            <a:ext cx="918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Не заполнен ответственный → документ «зависает». Назначайте ответственного/группу сразу.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Описание слишком короткое → непонятно, что делать. Пишите цель + что меняем + ожидаемый результат.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Нет файлов (плана/ТЗ) → тяжело выполнить/принять. Прикладывайте минимум необходимые документы.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Не удаётся сменить состояние → проверьте матрицу переходов («Правила перехода»).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003366"/>
                </a:solidFill>
                <a:latin typeface="Times New Roman"/>
              </a:rPr>
              <a:t>Чек‑лист сотрудника (коротко)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0000" y="1188000"/>
            <a:ext cx="918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Создай изменение на основании обращения.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Заполни: описание, тип/категорию/приоритет, ответственного, файлы.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Веди внутреннее общение: что сделали, что осталось, риски.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111111"/>
                </a:solidFill>
                <a:latin typeface="Times New Roman"/>
              </a:rPr>
              <a:t>Двигай по состояниям до «Закрыто», укажи код закрытия (если требуется).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